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9"/>
  </p:notesMasterIdLst>
  <p:handoutMasterIdLst>
    <p:handoutMasterId r:id="rId20"/>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297" r:id="rId14"/>
    <p:sldId id="290" r:id="rId15"/>
    <p:sldId id="292" r:id="rId16"/>
    <p:sldId id="298" r:id="rId17"/>
    <p:sldId id="288" r:id="rId1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66" d="100"/>
          <a:sy n="66" d="100"/>
        </p:scale>
        <p:origin x="54" y="110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5898679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David Alcarria Pedro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L=m*</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siendo</a:t>
            </a:r>
            <a:r>
              <a:rPr lang="en-US" sz="1200" dirty="0">
                <a:latin typeface="Arial" panose="020B0604020202020204" pitchFamily="34" charset="0"/>
                <a:cs typeface="Arial" panose="020B0604020202020204" pitchFamily="34" charset="0"/>
              </a:rPr>
              <a:t> m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enteros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positivos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impares</a:t>
            </a:r>
            <a:r>
              <a:rPr lang="en-US" sz="1200" dirty="0">
                <a:latin typeface="Arial" panose="020B0604020202020204" pitchFamily="34" charset="0"/>
                <a:cs typeface="Arial" panose="020B0604020202020204" pitchFamily="34" charset="0"/>
              </a:rPr>
              <a:t> por 1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total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que K=1.</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dividida</a:t>
            </a:r>
            <a:r>
              <a:rPr lang="en-US" sz="1200" dirty="0">
                <a:latin typeface="Arial" panose="020B0604020202020204" pitchFamily="34" charset="0"/>
                <a:cs typeface="Arial" panose="020B0604020202020204" pitchFamily="34" charset="0"/>
              </a:rPr>
              <a:t> entre los dos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L = m*</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 para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m </a:t>
            </a:r>
            <a:r>
              <a:rPr lang="en-US" sz="1200" dirty="0" err="1">
                <a:latin typeface="Arial" panose="020B0604020202020204" pitchFamily="34" charset="0"/>
                <a:cs typeface="Arial" panose="020B0604020202020204" pitchFamily="34" charset="0"/>
              </a:rPr>
              <a:t>impares</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Por ultimo, para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K=0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poner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L=m*</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para m pares.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229B523B-2C9F-48C2-BF4D-869C74BA60A3}"/>
              </a:ext>
            </a:extLst>
          </p:cNvPr>
          <p:cNvPicPr>
            <a:picLocks noChangeAspect="1"/>
          </p:cNvPicPr>
          <p:nvPr/>
        </p:nvPicPr>
        <p:blipFill>
          <a:blip r:embed="rId6"/>
          <a:stretch>
            <a:fillRect/>
          </a:stretch>
        </p:blipFill>
        <p:spPr>
          <a:xfrm>
            <a:off x="4144602" y="1554132"/>
            <a:ext cx="3902796" cy="313187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GAP = 0.6</a:t>
            </a: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izquierda</a:t>
            </a:r>
            <a:r>
              <a:rPr lang="en-US" sz="1200" dirty="0">
                <a:latin typeface="Arial" panose="020B0604020202020204" pitchFamily="34" charset="0"/>
                <a:cs typeface="Arial" panose="020B0604020202020204" pitchFamily="34" charset="0"/>
              </a:rPr>
              <a:t>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por tanto se </a:t>
            </a:r>
            <a:r>
              <a:rPr lang="en-US" sz="1200" dirty="0" err="1">
                <a:latin typeface="Arial" panose="020B0604020202020204" pitchFamily="34" charset="0"/>
                <a:cs typeface="Arial" panose="020B0604020202020204" pitchFamily="34" charset="0"/>
              </a:rPr>
              <a:t>obtiene</a:t>
            </a:r>
            <a:r>
              <a:rPr lang="en-US" sz="1200" dirty="0">
                <a:latin typeface="Arial" panose="020B0604020202020204" pitchFamily="34" charset="0"/>
                <a:cs typeface="Arial" panose="020B0604020202020204" pitchFamily="34" charset="0"/>
              </a:rPr>
              <a:t> la mayor </a:t>
            </a:r>
            <a:r>
              <a:rPr lang="en-US" sz="1200" dirty="0" err="1">
                <a:latin typeface="Arial" panose="020B0604020202020204" pitchFamily="34" charset="0"/>
                <a:cs typeface="Arial" panose="020B0604020202020204" pitchFamily="34" charset="0"/>
              </a:rPr>
              <a:t>parte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contraria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puerto</a:t>
            </a:r>
            <a:r>
              <a:rPr lang="en-US" sz="1200" dirty="0">
                <a:latin typeface="Arial" panose="020B0604020202020204" pitchFamily="34" charset="0"/>
                <a:cs typeface="Arial" panose="020B0604020202020204" pitchFamily="34" charset="0"/>
              </a:rPr>
              <a:t> de entrada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los ratios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a:t>
            </a: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derecha</a:t>
            </a:r>
            <a:r>
              <a:rPr lang="en-US" sz="1200" dirty="0">
                <a:latin typeface="Arial" panose="020B0604020202020204" pitchFamily="34" charset="0"/>
                <a:cs typeface="Arial" panose="020B0604020202020204" pitchFamily="34" charset="0"/>
              </a:rPr>
              <a:t> L=</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 por tanto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de entrada se divide a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puerto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Como se </a:t>
            </a:r>
            <a:r>
              <a:rPr lang="en-US" sz="1200" dirty="0" err="1">
                <a:latin typeface="Arial" panose="020B0604020202020204" pitchFamily="34" charset="0"/>
                <a:cs typeface="Arial" panose="020B0604020202020204" pitchFamily="34" charset="0"/>
              </a:rPr>
              <a:t>aprecia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imagen, los ratios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son 0.5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puerto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arriba</a:t>
            </a:r>
            <a:r>
              <a:rPr lang="en-US" sz="1200" dirty="0">
                <a:latin typeface="Arial" panose="020B0604020202020204" pitchFamily="34" charset="0"/>
                <a:cs typeface="Arial" panose="020B0604020202020204" pitchFamily="34" charset="0"/>
              </a:rPr>
              <a:t> y 0.5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abajo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Ambos </a:t>
            </a:r>
            <a:r>
              <a:rPr lang="en-US" sz="1200" dirty="0" err="1">
                <a:latin typeface="Arial" panose="020B0604020202020204" pitchFamily="34" charset="0"/>
                <a:cs typeface="Arial" panose="020B0604020202020204" pitchFamily="34" charset="0"/>
              </a:rPr>
              <a:t>casos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presentan</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0.18 </a:t>
            </a:r>
            <a:r>
              <a:rPr lang="en-US" sz="1200" dirty="0" err="1">
                <a:latin typeface="Arial" panose="020B0604020202020204" pitchFamily="34" charset="0"/>
                <a:cs typeface="Arial" panose="020B0604020202020204" pitchFamily="34" charset="0"/>
              </a:rPr>
              <a:t>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76CC1458-F832-4764-B9E5-21219ACA32F5}"/>
              </a:ext>
            </a:extLst>
          </p:cNvPr>
          <p:cNvPicPr>
            <a:picLocks noChangeAspect="1"/>
          </p:cNvPicPr>
          <p:nvPr/>
        </p:nvPicPr>
        <p:blipFill>
          <a:blip r:embed="rId5"/>
          <a:stretch>
            <a:fillRect/>
          </a:stretch>
        </p:blipFill>
        <p:spPr>
          <a:xfrm>
            <a:off x="1063952" y="1659292"/>
            <a:ext cx="4577696" cy="2905648"/>
          </a:xfrm>
          <a:prstGeom prst="rect">
            <a:avLst/>
          </a:prstGeom>
        </p:spPr>
      </p:pic>
      <p:pic>
        <p:nvPicPr>
          <p:cNvPr id="9" name="Imagen 8">
            <a:extLst>
              <a:ext uri="{FF2B5EF4-FFF2-40B4-BE49-F238E27FC236}">
                <a16:creationId xmlns:a16="http://schemas.microsoft.com/office/drawing/2014/main" id="{3E29CCFB-E73C-4E0A-A736-9AE15525705B}"/>
              </a:ext>
            </a:extLst>
          </p:cNvPr>
          <p:cNvPicPr>
            <a:picLocks noChangeAspect="1"/>
          </p:cNvPicPr>
          <p:nvPr/>
        </p:nvPicPr>
        <p:blipFill>
          <a:blip r:embed="rId6"/>
          <a:stretch>
            <a:fillRect/>
          </a:stretch>
        </p:blipFill>
        <p:spPr>
          <a:xfrm>
            <a:off x="6691764" y="1574023"/>
            <a:ext cx="4436284" cy="3070168"/>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casos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apuntarlos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table </a:t>
            </a:r>
            <a:r>
              <a:rPr lang="en-US" sz="1200" dirty="0" err="1">
                <a:latin typeface="Arial" panose="020B0604020202020204" pitchFamily="34" charset="0"/>
                <a:cs typeface="Arial" panose="020B0604020202020204" pitchFamily="34" charset="0"/>
              </a:rPr>
              <a:t>manuelamente</a:t>
            </a:r>
            <a:r>
              <a:rPr lang="en-US" sz="120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12EED1A6-47EF-4A41-BFFE-2583DBD8E56C}"/>
              </a:ext>
            </a:extLst>
          </p:cNvPr>
          <p:cNvPicPr>
            <a:picLocks noChangeAspect="1"/>
          </p:cNvPicPr>
          <p:nvPr/>
        </p:nvPicPr>
        <p:blipFill>
          <a:blip r:embed="rId5"/>
          <a:stretch>
            <a:fillRect/>
          </a:stretch>
        </p:blipFill>
        <p:spPr>
          <a:xfrm>
            <a:off x="1371600" y="1435306"/>
            <a:ext cx="2676664" cy="3262981"/>
          </a:xfrm>
          <a:prstGeom prst="rect">
            <a:avLst/>
          </a:prstGeom>
        </p:spPr>
      </p:pic>
      <p:graphicFrame>
        <p:nvGraphicFramePr>
          <p:cNvPr id="11" name="Tabla 11">
            <a:extLst>
              <a:ext uri="{FF2B5EF4-FFF2-40B4-BE49-F238E27FC236}">
                <a16:creationId xmlns:a16="http://schemas.microsoft.com/office/drawing/2014/main" id="{A6BBFF76-AF02-47E2-AA58-6E975A0E8E59}"/>
              </a:ext>
            </a:extLst>
          </p:cNvPr>
          <p:cNvGraphicFramePr>
            <a:graphicFrameLocks noGrp="1"/>
          </p:cNvGraphicFramePr>
          <p:nvPr>
            <p:extLst>
              <p:ext uri="{D42A27DB-BD31-4B8C-83A1-F6EECF244321}">
                <p14:modId xmlns:p14="http://schemas.microsoft.com/office/powerpoint/2010/main" val="2144816584"/>
              </p:ext>
            </p:extLst>
          </p:nvPr>
        </p:nvGraphicFramePr>
        <p:xfrm>
          <a:off x="6035538" y="60961"/>
          <a:ext cx="4216400" cy="4663440"/>
        </p:xfrm>
        <a:graphic>
          <a:graphicData uri="http://schemas.openxmlformats.org/drawingml/2006/table">
            <a:tbl>
              <a:tblPr firstRow="1" bandRow="1">
                <a:tableStyleId>{5C22544A-7EE6-4342-B048-85BDC9FD1C3A}</a:tableStyleId>
              </a:tblPr>
              <a:tblGrid>
                <a:gridCol w="1054100">
                  <a:extLst>
                    <a:ext uri="{9D8B030D-6E8A-4147-A177-3AD203B41FA5}">
                      <a16:colId xmlns:a16="http://schemas.microsoft.com/office/drawing/2014/main" val="1940948963"/>
                    </a:ext>
                  </a:extLst>
                </a:gridCol>
                <a:gridCol w="1054100">
                  <a:extLst>
                    <a:ext uri="{9D8B030D-6E8A-4147-A177-3AD203B41FA5}">
                      <a16:colId xmlns:a16="http://schemas.microsoft.com/office/drawing/2014/main" val="38804044"/>
                    </a:ext>
                  </a:extLst>
                </a:gridCol>
                <a:gridCol w="1054100">
                  <a:extLst>
                    <a:ext uri="{9D8B030D-6E8A-4147-A177-3AD203B41FA5}">
                      <a16:colId xmlns:a16="http://schemas.microsoft.com/office/drawing/2014/main" val="3236221254"/>
                    </a:ext>
                  </a:extLst>
                </a:gridCol>
                <a:gridCol w="1054100">
                  <a:extLst>
                    <a:ext uri="{9D8B030D-6E8A-4147-A177-3AD203B41FA5}">
                      <a16:colId xmlns:a16="http://schemas.microsoft.com/office/drawing/2014/main" val="3664213930"/>
                    </a:ext>
                  </a:extLst>
                </a:gridCol>
              </a:tblGrid>
              <a:tr h="233962">
                <a:tc>
                  <a:txBody>
                    <a:bodyPr/>
                    <a:lstStyle/>
                    <a:p>
                      <a:r>
                        <a:rPr lang="es-ES" dirty="0"/>
                        <a:t>GAP (</a:t>
                      </a:r>
                      <a:r>
                        <a:rPr lang="es-ES" dirty="0" err="1"/>
                        <a:t>um</a:t>
                      </a:r>
                      <a:r>
                        <a:rPr lang="es-ES" dirty="0"/>
                        <a:t>)</a:t>
                      </a:r>
                    </a:p>
                  </a:txBody>
                  <a:tcPr/>
                </a:tc>
                <a:tc>
                  <a:txBody>
                    <a:bodyPr/>
                    <a:lstStyle/>
                    <a:p>
                      <a:r>
                        <a:rPr lang="es-ES" dirty="0"/>
                        <a:t>LOSSES (dB)</a:t>
                      </a:r>
                    </a:p>
                  </a:txBody>
                  <a:tcPr/>
                </a:tc>
                <a:tc>
                  <a:txBody>
                    <a:bodyPr/>
                    <a:lstStyle/>
                    <a:p>
                      <a:r>
                        <a:rPr lang="es-ES" dirty="0" err="1"/>
                        <a:t>L_pi</a:t>
                      </a:r>
                      <a:r>
                        <a:rPr lang="es-ES" dirty="0"/>
                        <a:t> RATIO</a:t>
                      </a:r>
                    </a:p>
                  </a:txBody>
                  <a:tcPr/>
                </a:tc>
                <a:tc>
                  <a:txBody>
                    <a:bodyPr/>
                    <a:lstStyle/>
                    <a:p>
                      <a:r>
                        <a:rPr lang="es-ES" dirty="0" err="1"/>
                        <a:t>L_pi</a:t>
                      </a:r>
                      <a:r>
                        <a:rPr lang="es-ES" dirty="0"/>
                        <a:t>/2 RATIO</a:t>
                      </a:r>
                    </a:p>
                  </a:txBody>
                  <a:tcPr/>
                </a:tc>
                <a:extLst>
                  <a:ext uri="{0D108BD9-81ED-4DB2-BD59-A6C34878D82A}">
                    <a16:rowId xmlns:a16="http://schemas.microsoft.com/office/drawing/2014/main" val="2740672354"/>
                  </a:ext>
                </a:extLst>
              </a:tr>
              <a:tr h="233962">
                <a:tc>
                  <a:txBody>
                    <a:bodyPr/>
                    <a:lstStyle/>
                    <a:p>
                      <a:endParaRPr lang="es-ES" dirty="0"/>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1822894246"/>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4160623705"/>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1584186772"/>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835796219"/>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2145988731"/>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2629836775"/>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4281414131"/>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1576985583"/>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1172838679"/>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a:p>
                  </a:txBody>
                  <a:tcPr/>
                </a:tc>
                <a:extLst>
                  <a:ext uri="{0D108BD9-81ED-4DB2-BD59-A6C34878D82A}">
                    <a16:rowId xmlns:a16="http://schemas.microsoft.com/office/drawing/2014/main" val="1231781802"/>
                  </a:ext>
                </a:extLst>
              </a:tr>
              <a:tr h="233962">
                <a:tc>
                  <a:txBody>
                    <a:bodyPr/>
                    <a:lstStyle/>
                    <a:p>
                      <a:endParaRPr lang="es-ES"/>
                    </a:p>
                  </a:txBody>
                  <a:tcPr/>
                </a:tc>
                <a:tc>
                  <a:txBody>
                    <a:bodyPr/>
                    <a:lstStyle/>
                    <a:p>
                      <a:endParaRPr lang="es-ES"/>
                    </a:p>
                  </a:txBody>
                  <a:tcPr/>
                </a:tc>
                <a:tc>
                  <a:txBody>
                    <a:bodyPr/>
                    <a:lstStyle/>
                    <a:p>
                      <a:endParaRPr lang="es-ES"/>
                    </a:p>
                  </a:txBody>
                  <a:tcPr/>
                </a:tc>
                <a:tc>
                  <a:txBody>
                    <a:bodyPr/>
                    <a:lstStyle/>
                    <a:p>
                      <a:endParaRPr lang="es-ES" dirty="0"/>
                    </a:p>
                  </a:txBody>
                  <a:tcPr/>
                </a:tc>
                <a:extLst>
                  <a:ext uri="{0D108BD9-81ED-4DB2-BD59-A6C34878D82A}">
                    <a16:rowId xmlns:a16="http://schemas.microsoft.com/office/drawing/2014/main" val="1264315745"/>
                  </a:ext>
                </a:extLst>
              </a:tr>
            </a:tbl>
          </a:graphicData>
        </a:graphic>
      </p:graphicFrame>
    </p:spTree>
    <p:extLst>
      <p:ext uri="{BB962C8B-B14F-4D97-AF65-F5344CB8AC3E}">
        <p14:creationId xmlns:p14="http://schemas.microsoft.com/office/powerpoint/2010/main" val="2012096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514280" y="2568859"/>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5" name="Imagen 4">
            <a:extLst>
              <a:ext uri="{FF2B5EF4-FFF2-40B4-BE49-F238E27FC236}">
                <a16:creationId xmlns:a16="http://schemas.microsoft.com/office/drawing/2014/main" id="{0306A81B-1DE7-4993-A6AA-D02ECE945160}"/>
              </a:ext>
            </a:extLst>
          </p:cNvPr>
          <p:cNvPicPr>
            <a:picLocks noChangeAspect="1"/>
          </p:cNvPicPr>
          <p:nvPr/>
        </p:nvPicPr>
        <p:blipFill>
          <a:blip r:embed="rId5"/>
          <a:stretch>
            <a:fillRect/>
          </a:stretch>
        </p:blipFill>
        <p:spPr>
          <a:xfrm>
            <a:off x="4252719" y="1484955"/>
            <a:ext cx="3686562" cy="3091138"/>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r>
              <a:rPr lang="en-US" sz="1200" dirty="0">
                <a:latin typeface="Arial" panose="020B0604020202020204" pitchFamily="34" charset="0"/>
                <a:cs typeface="Arial" panose="020B0604020202020204" pitchFamily="34" charset="0"/>
              </a:rPr>
              <a:t>Con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dy</a:t>
            </a:r>
            <a:r>
              <a:rPr lang="en-US" sz="1200" dirty="0">
                <a:latin typeface="Arial" panose="020B0604020202020204" pitchFamily="34" charset="0"/>
                <a:cs typeface="Arial" panose="020B0604020202020204" pitchFamily="34" charset="0"/>
              </a:rPr>
              <a:t> = 0.1 y de </a:t>
            </a:r>
            <a:r>
              <a:rPr lang="en-US" sz="1200" dirty="0" err="1">
                <a:latin typeface="Arial" panose="020B0604020202020204" pitchFamily="34" charset="0"/>
                <a:cs typeface="Arial" panose="020B0604020202020204" pitchFamily="34" charset="0"/>
              </a:rPr>
              <a:t>dL_MMI</a:t>
            </a:r>
            <a:r>
              <a:rPr lang="en-US" sz="1200" dirty="0">
                <a:latin typeface="Arial" panose="020B0604020202020204" pitchFamily="34" charset="0"/>
                <a:cs typeface="Arial" panose="020B0604020202020204" pitchFamily="34" charset="0"/>
              </a:rPr>
              <a:t> = -0.5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optimizadas</a:t>
            </a:r>
            <a:r>
              <a:rPr lang="en-US" sz="1200" dirty="0">
                <a:latin typeface="Arial" panose="020B0604020202020204" pitchFamily="34" charset="0"/>
                <a:cs typeface="Arial" panose="020B0604020202020204" pitchFamily="34" charset="0"/>
              </a:rPr>
              <a:t> de 0.330 dB y un ratio de 0.5055</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pic>
        <p:nvPicPr>
          <p:cNvPr id="5" name="Imagen 4">
            <a:extLst>
              <a:ext uri="{FF2B5EF4-FFF2-40B4-BE49-F238E27FC236}">
                <a16:creationId xmlns:a16="http://schemas.microsoft.com/office/drawing/2014/main" id="{C23D9742-E714-4668-8DDB-BFA03AD4E1E6}"/>
              </a:ext>
            </a:extLst>
          </p:cNvPr>
          <p:cNvPicPr>
            <a:picLocks noChangeAspect="1"/>
          </p:cNvPicPr>
          <p:nvPr/>
        </p:nvPicPr>
        <p:blipFill>
          <a:blip r:embed="rId5"/>
          <a:stretch>
            <a:fillRect/>
          </a:stretch>
        </p:blipFill>
        <p:spPr>
          <a:xfrm>
            <a:off x="609441" y="1321220"/>
            <a:ext cx="3925487" cy="3306028"/>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r>
              <a:rPr lang="en-US" sz="1200" dirty="0">
                <a:latin typeface="Arial" panose="020B0604020202020204" pitchFamily="34" charset="0"/>
                <a:cs typeface="Arial" panose="020B0604020202020204" pitchFamily="34" charset="0"/>
              </a:rPr>
              <a:t>Width de 1.3 um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pic>
        <p:nvPicPr>
          <p:cNvPr id="9" name="Imagen 8">
            <a:extLst>
              <a:ext uri="{FF2B5EF4-FFF2-40B4-BE49-F238E27FC236}">
                <a16:creationId xmlns:a16="http://schemas.microsoft.com/office/drawing/2014/main" id="{4E0D97B1-49CF-4987-982D-BF9E9B02DD8F}"/>
              </a:ext>
            </a:extLst>
          </p:cNvPr>
          <p:cNvPicPr>
            <a:picLocks noChangeAspect="1"/>
          </p:cNvPicPr>
          <p:nvPr/>
        </p:nvPicPr>
        <p:blipFill>
          <a:blip r:embed="rId5"/>
          <a:stretch>
            <a:fillRect/>
          </a:stretch>
        </p:blipFill>
        <p:spPr>
          <a:xfrm>
            <a:off x="685800" y="1541411"/>
            <a:ext cx="3551900" cy="2978225"/>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916</TotalTime>
  <Words>1223</Words>
  <Application>Microsoft Office PowerPoint</Application>
  <PresentationFormat>Panorámica</PresentationFormat>
  <Paragraphs>212</Paragraphs>
  <Slides>17</Slides>
  <Notes>12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17</vt:i4>
      </vt:variant>
    </vt:vector>
  </HeadingPairs>
  <TitlesOfParts>
    <vt:vector size="24"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Learning outcome #2 – 2x2 Directional Coupler Gap 0.6 - 1.6 µm (step 0.1 µm) – Wavelength 1.55 µm </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19</cp:revision>
  <dcterms:created xsi:type="dcterms:W3CDTF">2025-01-27T02:46:57Z</dcterms:created>
  <dcterms:modified xsi:type="dcterms:W3CDTF">2026-03-02T10:41:01Z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